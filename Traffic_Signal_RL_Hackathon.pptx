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9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0F1729"/>
                </a:solidFill>
                <a:latin typeface="Calibri"/>
              </a:rPr>
              <a:t>Score by scenario (v1 + v2.0)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dummy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night</c:v>
                </c:pt>
                <c:pt idx="4">
                  <c:v>rush_hr</c:v>
                </c:pt>
                <c:pt idx="5">
                  <c:v>chaos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0.28999999999999998</c:v>
                </c:pt>
                <c:pt idx="2">
                  <c:v>0</c:v>
                </c:pt>
                <c:pt idx="3">
                  <c:v>0.3</c:v>
                </c:pt>
                <c:pt idx="4">
                  <c:v>0.33</c:v>
                </c:pt>
                <c:pt idx="5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1-41B3-A687-B457CE443F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round_robin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night</c:v>
                </c:pt>
                <c:pt idx="4">
                  <c:v>rush_hr</c:v>
                </c:pt>
                <c:pt idx="5">
                  <c:v>chaos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0.3</c:v>
                </c:pt>
                <c:pt idx="2">
                  <c:v>0</c:v>
                </c:pt>
                <c:pt idx="3">
                  <c:v>0.27</c:v>
                </c:pt>
                <c:pt idx="4">
                  <c:v>0.52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E1-41B3-A687-B457CE443F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rule_based</c:v>
                </c:pt>
              </c:strCache>
            </c:strRef>
          </c:tx>
          <c:spPr>
            <a:solidFill>
              <a:srgbClr val="00B4A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night</c:v>
                </c:pt>
                <c:pt idx="4">
                  <c:v>rush_hr</c:v>
                </c:pt>
                <c:pt idx="5">
                  <c:v>chaos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0.94</c:v>
                </c:pt>
                <c:pt idx="1">
                  <c:v>0.88</c:v>
                </c:pt>
                <c:pt idx="2">
                  <c:v>0.87</c:v>
                </c:pt>
                <c:pt idx="3">
                  <c:v>0.48</c:v>
                </c:pt>
                <c:pt idx="4">
                  <c:v>0.84</c:v>
                </c:pt>
                <c:pt idx="5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E1-41B3-A687-B457CE443F5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smart_bundle</c:v>
                </c:pt>
              </c:strCache>
            </c:strRef>
          </c:tx>
          <c:spPr>
            <a:solidFill>
              <a:srgbClr val="008B8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night</c:v>
                </c:pt>
                <c:pt idx="4">
                  <c:v>rush_hr</c:v>
                </c:pt>
                <c:pt idx="5">
                  <c:v>chaos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0.94</c:v>
                </c:pt>
                <c:pt idx="1">
                  <c:v>0.89</c:v>
                </c:pt>
                <c:pt idx="2">
                  <c:v>0.94</c:v>
                </c:pt>
                <c:pt idx="3">
                  <c:v>0.54</c:v>
                </c:pt>
                <c:pt idx="4">
                  <c:v>0.96</c:v>
                </c:pt>
                <c:pt idx="5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E1-41B3-A687-B457CE443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31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4A6">
              <a:alpha val="12000"/>
            </a:srgbClr>
          </a:solidFill>
          <a:ln w="12700">
            <a:solidFill>
              <a:srgbClr val="00B4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704320" y="5029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560320" cy="384048"/>
          </a:xfrm>
          <a:prstGeom prst="rect">
            <a:avLst/>
          </a:prstGeom>
          <a:solidFill>
            <a:srgbClr val="00B4A6">
              <a:alpha val="30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OPENENV · RL HACKATHON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Environment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adaptive, anti-hack-resistant RL benchmark for smart-city signal control — 13 scenarios, bounded reward, real-world domain events.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Vellineni  ·  Sasikumar Duraisamy  ·  Rohith Srivatsan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0" y="5989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Fixed-timer traffic lights waste time, fuel, and lives.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13010" y="1701582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driving time spent idling at red lights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013010" y="3118902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emergency-vehicle delay at fixed signals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013010" y="4536222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to peak-hour, weather, or pedestrian surges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3840" y="3657600"/>
            <a:ext cx="2926080" cy="91440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869680" y="2651760"/>
            <a:ext cx="914400" cy="292608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6384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7532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09828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0976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92124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33272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744200" y="4087368"/>
            <a:ext cx="2011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304020" y="265176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304020" y="306324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304020" y="347472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304020" y="388620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304020" y="429768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304020" y="470916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304020" y="512064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304020" y="5532120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052560" y="3840480"/>
            <a:ext cx="548640" cy="548640"/>
          </a:xfrm>
          <a:prstGeom prst="ellipse">
            <a:avLst/>
          </a:prstGeom>
          <a:solidFill>
            <a:srgbClr val="0F1729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180576" y="396849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0" y="5715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88136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0664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6263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intersection — the unit problem of urban mobility.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are already deploying adaptive signal control.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Pittsburgh's SURTRAC, Singapore's GLIDE, and Amsterdam's adaptive grid have shown 25–40% reductions in travel time on retrofit corridors. We provide a clean, reproducible RL testbed for this class of problem — OpenEnv-compatible, seedable, and benchmarked against a strong rule-based baseline.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65760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09728" cy="3108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PITTSBURGH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SURTRAC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Decentralized, schedule-driven control across 50+ intersections downtown.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1688" y="3017520"/>
            <a:ext cx="365760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61688" y="3017520"/>
            <a:ext cx="109728" cy="3108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27448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727448" y="45720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27448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adaptive system on every signalized junction nationwide.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66176" y="3017520"/>
            <a:ext cx="365760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66176" y="3017520"/>
            <a:ext cx="109728" cy="3108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31936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31936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Grid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31936" y="45720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31936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 timing for trams, buses, cyclists, and emergency vehicles.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OpenEnv environment built for the long tail of real intersections.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23560" cy="19109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dynamics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4592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arrivals, peak-hour transitions, pedestrian holds, lane incidents, weather, scheduled emergencies.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623560" cy="19109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720840" y="2194560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7208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2194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reward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4380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components normalized to [-1, +1], per-tick base reward in [-3, +3]. Stable for any RL algorithm.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92884"/>
            <a:ext cx="5623560" cy="19109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358644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3586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3586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Hack-resistant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45920" y="4861564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catch two independent shortcut hacks: bundle_NS gaming and aggressive ped-hold abuse.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992884"/>
            <a:ext cx="5623560" cy="19109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720840" y="4358644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20840" y="43586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43586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543800" y="4861564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scenario with a known-optimal score (0.981) — a CI regression test for reward-function drift.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Observation, action, reward — at a glance.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3920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0332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5384" y="2377440"/>
            <a:ext cx="3572256" cy="3175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Per-lane: cars waiting, avg wait (seconds)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current_green, time_in_phase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emergency_lane, pedestrian_requests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pedestrian_active, pedestrian_ticks_remaining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time_of_day  (NORMAL / PEAK_HOUR / NIGHT)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incident_lane, incident_ticks_remaining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703320" cy="3920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0" name="Shape 8"/>
          <p:cNvSpPr/>
          <p:nvPr/>
        </p:nvSpPr>
        <p:spPr>
          <a:xfrm>
            <a:off x="4361688" y="1691640"/>
            <a:ext cx="3703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61688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377440"/>
            <a:ext cx="3246120" cy="3175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hold current green one tick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switch_to_N / S / E / 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extend_green — +10 ticks to phase cap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pedestrian_hold — pause all 15 ticks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bundle_NS — release N + S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bundle_EW — release E + W together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66176" y="1691640"/>
            <a:ext cx="3703320" cy="3920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4" name="Shape 12"/>
          <p:cNvSpPr/>
          <p:nvPr/>
        </p:nvSpPr>
        <p:spPr>
          <a:xfrm>
            <a:off x="8266176" y="1691640"/>
            <a:ext cx="3703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66176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0496" y="2377440"/>
            <a:ext cx="3246120" cy="3175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 +0.5 × cars_cleared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 -0.1 × total_queued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max_wait  -0.3 × max_lane_wait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 -0.5 × starved_lanes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 -0.2 × stddev(waits)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 graded continuous, ±2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 potential-based shaping (Φ)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normalized, and theoretically grounded.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7573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normalized to roughly [-1, +1] before weighting. Per-tick base reward sits in [-3, +3], with emergency events as designed-large spikes. The progress term is potential-based reward shaping (Ng, Harada &amp; Russell, ICML 1999) — it preserves the optimal policy while giving a dense per-tick learning signal.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403798"/>
              </p:ext>
            </p:extLst>
          </p:nvPr>
        </p:nvGraphicFramePr>
        <p:xfrm>
          <a:off x="457200" y="2119691"/>
          <a:ext cx="11247120" cy="3291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+1]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cars_cleared_this_tick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-tanh(total_queued / 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max_wait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-tanh(max_wait / 30)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-starved_lanes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-tanh(stddev_wait / 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[-2, +2]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decay over 45s + sub-15s bonus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if agent switched lanes this tick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+0.05]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reward for serving / penalty for backlog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 (potential-based)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+1]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Φ(s') − Φ(s),  Φ(s) = −total_cars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5711688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5693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reward spiked to -30+; v2 keeps it bounded — RL training stays stable across all 13 scenarios.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scenarios spanning five generations of design.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772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three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41848" y="182880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/>
          <p:nvPr/>
        </p:nvSpPr>
        <p:spPr>
          <a:xfrm>
            <a:off x="5641848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48856" y="182880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3" name="Text 11"/>
          <p:cNvSpPr/>
          <p:nvPr/>
        </p:nvSpPr>
        <p:spPr>
          <a:xfrm>
            <a:off x="6848856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distribution.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777240" cy="411480"/>
          </a:xfrm>
          <a:prstGeom prst="rect">
            <a:avLst/>
          </a:prstGeom>
          <a:solidFill>
            <a:srgbClr val="008B82"/>
          </a:solidFill>
          <a:ln w="12700">
            <a:solidFill>
              <a:srgbClr val="008B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633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Dynamics-driven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4840" y="269748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9" name="Text 17"/>
          <p:cNvSpPr/>
          <p:nvPr/>
        </p:nvSpPr>
        <p:spPr>
          <a:xfrm>
            <a:off x="4434840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41848" y="269748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1" name="Text 19"/>
          <p:cNvSpPr/>
          <p:nvPr/>
        </p:nvSpPr>
        <p:spPr>
          <a:xfrm>
            <a:off x="5641848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rush_hour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48856" y="269748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3" name="Text 21"/>
          <p:cNvSpPr/>
          <p:nvPr/>
        </p:nvSpPr>
        <p:spPr>
          <a:xfrm>
            <a:off x="6848856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063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cycle, lane incidents.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777240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502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Guide-derived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4840" y="356616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9" name="Text 27"/>
          <p:cNvSpPr/>
          <p:nvPr/>
        </p:nvSpPr>
        <p:spPr>
          <a:xfrm>
            <a:off x="4434840" y="3566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41848" y="356616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1" name="Text 29"/>
          <p:cNvSpPr/>
          <p:nvPr/>
        </p:nvSpPr>
        <p:spPr>
          <a:xfrm>
            <a:off x="5641848" y="3566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48856" y="3566160"/>
            <a:ext cx="1175004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3" name="Text 31"/>
          <p:cNvSpPr/>
          <p:nvPr/>
        </p:nvSpPr>
        <p:spPr>
          <a:xfrm>
            <a:off x="6848856" y="356616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3931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anti-hack, verifiable.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777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4370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34840" y="4434840"/>
            <a:ext cx="1408176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9" name="Text 37"/>
          <p:cNvSpPr/>
          <p:nvPr/>
        </p:nvSpPr>
        <p:spPr>
          <a:xfrm>
            <a:off x="4434840" y="443484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pedestrian_heavy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17320" y="4800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tradeoff + 2nd anti-hack.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257800"/>
            <a:ext cx="7772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52578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17320" y="5239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domain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34840" y="5303520"/>
            <a:ext cx="1175004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5" name="Text 43"/>
          <p:cNvSpPr/>
          <p:nvPr/>
        </p:nvSpPr>
        <p:spPr>
          <a:xfrm>
            <a:off x="4434840" y="530352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ambulance_run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19572" y="530352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7" name="Text 45"/>
          <p:cNvSpPr/>
          <p:nvPr/>
        </p:nvSpPr>
        <p:spPr>
          <a:xfrm>
            <a:off x="5719572" y="5303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vip_convoy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26580" y="5303520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9" name="Text 47"/>
          <p:cNvSpPr/>
          <p:nvPr/>
        </p:nvSpPr>
        <p:spPr>
          <a:xfrm>
            <a:off x="6926580" y="5303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33588" y="5303520"/>
            <a:ext cx="1719072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51" name="Text 49"/>
          <p:cNvSpPr/>
          <p:nvPr/>
        </p:nvSpPr>
        <p:spPr>
          <a:xfrm>
            <a:off x="8133588" y="53035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orchestrated_signals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17320" y="5669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emergencies, weather, anticipation.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 — REAL-WORLD DOMAIN EVENTS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scenarios borrowed from real Indian traffic operations.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235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🚑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ambulance_run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663440" y="2212848"/>
            <a:ext cx="105156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3440" y="22128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ticks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scheduled ambulances. First three spaced for consistent response, last three in a 10-tick burst forcing triage decisions.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6235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543800" y="2148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vip_convoy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561320" y="2212848"/>
            <a:ext cx="105156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61320" y="22128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ticks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Z-security convoys, pre-announced 8 ticks ahead. Agent must build a green corridor before convoy arrival — tests anticipation, not reaction.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56235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🌧️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64592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63440" y="4681728"/>
            <a:ext cx="105156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3440" y="4681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ticks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51663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schedule (CLEAR / RAIN / HEAVY_RAIN) reduces flow rate by up to 50% and accelerates wait. Bundle-aware agents win.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623560" cy="2194560"/>
          </a:xfrm>
          <a:prstGeom prst="rect">
            <a:avLst/>
          </a:prstGeom>
          <a:solidFill>
            <a:srgbClr val="0F1729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940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54380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orchestrated_signals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561320" y="4681728"/>
            <a:ext cx="105156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561320" y="4681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ticks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51663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boss. VIP convoys + ambulance bursts + monsoon + lane incidents + peak-hour cycle, all overlapping. Tests prioritization across concurrent high-priority events.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0" y="6080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— ANTI-REWARD-HACKING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catching two independent shortcut hacks.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647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is the silent killer of RL benchmarks. We deliberately constructed two scenarios where common shortcut policies score near zero — proving the reward function rewards real competence, not gaming.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52318"/>
            <a:ext cx="53492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452318"/>
            <a:ext cx="5349240" cy="5029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45231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 (v2.1)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3811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6671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bundle_NS shortcut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7819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traffic on E + W only. A naive agent that spams bundle_NS looks productive on throughput but never serves the loaded lanes.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78403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492119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14979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 vs 0.02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569843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vs bundle_NS_cheat — a 0.92 separation.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452318"/>
            <a:ext cx="53492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55080" y="2452318"/>
            <a:ext cx="5349240" cy="5029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245231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pedestrian_heavy  (v2.2)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13811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36671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ped-hold abuse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377819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pedestrian rate (0.20/tick, 4× medium). Spamming pedestrian_hold racks up service rewards but tanks the independent ped_responsiveness signal.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478403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29400" y="492119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514979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vs 0.22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629400" y="569843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smart_bundle vs agg_holds_cheat — a 0.61 separation.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mean from benchmark.py — strong floor and clear ceiling.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Anti-hack &amp; domain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194560"/>
          <a:ext cx="4114800" cy="234086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pedestrian_heavy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ambulance_run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vip_convoy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monsoon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orchestrated_signals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589520" y="4937760"/>
            <a:ext cx="411480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7589520" y="49377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777240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for learned policies</a:t>
            </a:r>
            <a:endParaRPr lang="en-US" sz="1200" dirty="0"/>
          </a:p>
        </p:txBody>
      </p:sp>
      <p:sp>
        <p:nvSpPr>
          <p:cNvPr id="7" name="Text 7"/>
          <p:cNvSpPr/>
          <p:nvPr/>
        </p:nvSpPr>
        <p:spPr>
          <a:xfrm>
            <a:off x="7772400" y="5349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vip_convoy (0.73) and orchestrated_signals (0.63) leave substantial room above the rule-based baseline — anticipation and multi-event prioritization are not solved by greedy policies.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JUDGES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 worth noticing.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178308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floor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do-nothing agent scores 0.60 on `tutorial` — RL training has a non-zero gradient from tick 1 (Guide §6 curriculum).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124712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62432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86000" y="267004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anti-hack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299008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rule_based (0.94) vs bundle_NS_cheat (0.02). Catches the `bundle_NS` shortcut decisively.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1124712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51129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286000" y="355701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anti-hack gap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87705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smart_bundle (0.83) vs agg_holds_cheat (0.22). Independent second hack signal — two scenarios catching two distinct hacks.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352544"/>
            <a:ext cx="1124712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352544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43982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286000" y="444398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convoy ceiling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476402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Pre-clearing a green corridor on 8-tick lead time leaves substantial headroom above the rule-based baseline.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239512"/>
            <a:ext cx="1124712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5239512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5800" y="52852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2286000" y="533095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final-boss ceiling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56509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overlap (VIP + ambulance + weather + incidents + peak) — even smart agents struggle. Massive headroom for learned policies.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stack, OpenEnv-compatible, fully reproducible.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10896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108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Gemini-compatible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194560"/>
            <a:ext cx="310896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931920" y="2194560"/>
            <a:ext cx="310896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server/app.py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· port 7860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2194560"/>
            <a:ext cx="310896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406640" y="2194560"/>
            <a:ext cx="3108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8952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environment/traffic_env.py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scenarios · per-env seed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artifacts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645152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tasks/graders.py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5720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graders + deterministic_optimal_score()  →  CI regression on reward drift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974336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4901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9011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multi-seed comparison runner — produces the baseline tables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303520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7240" y="5230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openenv.yaml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5230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OpenEnv manifest — drop-in for any compatible orchestrator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632704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5559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RL_REWARD_DESIGN.md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55595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 design doc (v2 bounded, normalized, potential-based)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961888"/>
            <a:ext cx="146304" cy="14630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" y="58887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HACKATHON_GUIDE_DERIVATION.md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58887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Scenario-by-scenario derivation traceable to the hackathon guide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 Environment</a:t>
            </a:r>
            <a:endParaRPr lang="en-US" sz="10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D3A977-9D07-8647-8CF0-8BB5B7B6322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566160" y="2926080"/>
            <a:ext cx="36576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8E9D8B-1606-F308-DD8C-F5AE57441161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7040880" y="2926080"/>
            <a:ext cx="36576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5486400" cy="5486400"/>
          </a:xfrm>
          <a:prstGeom prst="ellipse">
            <a:avLst/>
          </a:prstGeom>
          <a:solidFill>
            <a:srgbClr val="00B4A6">
              <a:alpha val="12000"/>
            </a:srgbClr>
          </a:solidFill>
          <a:ln w="12700">
            <a:solidFill>
              <a:srgbClr val="00B4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scenarios · bounded reward · anti-hack rigor · real-world domain events.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Vellineni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Sasikumar Duraisamy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2104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Srivatsan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1562</Words>
  <Application>Microsoft Office PowerPoint</Application>
  <PresentationFormat>Widescreen</PresentationFormat>
  <Paragraphs>282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Signal Optimization Environment</dc:title>
  <dc:subject>PptxGenJS Presentation</dc:subject>
  <dc:creator>Balaji Vellineni, Sasikumar Duraisamy, Rohith Srivatsan</dc:creator>
  <cp:lastModifiedBy>Balaji Vellineni</cp:lastModifiedBy>
  <cp:revision>2</cp:revision>
  <dcterms:created xsi:type="dcterms:W3CDTF">2026-04-25T10:54:45Z</dcterms:created>
  <dcterms:modified xsi:type="dcterms:W3CDTF">2026-04-25T12:13:15Z</dcterms:modified>
</cp:coreProperties>
</file>